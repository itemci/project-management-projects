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2" r:id="rId1"/>
  </p:sldMasterIdLst>
  <p:sldIdLst>
    <p:sldId id="256" r:id="rId2"/>
    <p:sldId id="257" r:id="rId3"/>
    <p:sldId id="259" r:id="rId4"/>
    <p:sldId id="260" r:id="rId5"/>
    <p:sldId id="261" r:id="rId6"/>
    <p:sldId id="262" r:id="rId7"/>
    <p:sldId id="263" r:id="rId8"/>
    <p:sldId id="266" r:id="rId9"/>
    <p:sldId id="264" r:id="rId10"/>
    <p:sldId id="265"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65"/>
  </p:normalViewPr>
  <p:slideViewPr>
    <p:cSldViewPr snapToGrid="0">
      <p:cViewPr varScale="1">
        <p:scale>
          <a:sx n="90" d="100"/>
          <a:sy n="90" d="100"/>
        </p:scale>
        <p:origin x="232" y="5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GB"/>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7089B66A-C420-F843-90FC-15CEBB34E416}" type="datetimeFigureOut">
              <a:rPr lang="en-US" smtClean="0"/>
              <a:t>6/20/24</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714E9FE0-EFB2-3B45-9E16-61AE00F20B09}" type="slidenum">
              <a:rPr lang="en-US" smtClean="0"/>
              <a:t>‹#›</a:t>
            </a:fld>
            <a:endParaRPr lang="en-US"/>
          </a:p>
        </p:txBody>
      </p:sp>
    </p:spTree>
    <p:extLst>
      <p:ext uri="{BB962C8B-B14F-4D97-AF65-F5344CB8AC3E}">
        <p14:creationId xmlns:p14="http://schemas.microsoft.com/office/powerpoint/2010/main" val="3678471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089B66A-C420-F843-90FC-15CEBB34E416}" type="datetimeFigureOut">
              <a:rPr lang="en-US" smtClean="0"/>
              <a:t>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4E9FE0-EFB2-3B45-9E16-61AE00F20B09}" type="slidenum">
              <a:rPr lang="en-US" smtClean="0"/>
              <a:t>‹#›</a:t>
            </a:fld>
            <a:endParaRPr lang="en-US"/>
          </a:p>
        </p:txBody>
      </p:sp>
    </p:spTree>
    <p:extLst>
      <p:ext uri="{BB962C8B-B14F-4D97-AF65-F5344CB8AC3E}">
        <p14:creationId xmlns:p14="http://schemas.microsoft.com/office/powerpoint/2010/main" val="3814595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GB"/>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7089B66A-C420-F843-90FC-15CEBB34E416}" type="datetimeFigureOut">
              <a:rPr lang="en-US" smtClean="0"/>
              <a:t>6/20/24</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714E9FE0-EFB2-3B45-9E16-61AE00F20B09}" type="slidenum">
              <a:rPr lang="en-US" smtClean="0"/>
              <a:t>‹#›</a:t>
            </a:fld>
            <a:endParaRPr lang="en-US"/>
          </a:p>
        </p:txBody>
      </p:sp>
    </p:spTree>
    <p:extLst>
      <p:ext uri="{BB962C8B-B14F-4D97-AF65-F5344CB8AC3E}">
        <p14:creationId xmlns:p14="http://schemas.microsoft.com/office/powerpoint/2010/main" val="4054557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089B66A-C420-F843-90FC-15CEBB34E416}" type="datetimeFigureOut">
              <a:rPr lang="en-US" smtClean="0"/>
              <a:t>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4E9FE0-EFB2-3B45-9E16-61AE00F20B09}" type="slidenum">
              <a:rPr lang="en-US" smtClean="0"/>
              <a:t>‹#›</a:t>
            </a:fld>
            <a:endParaRPr lang="en-US"/>
          </a:p>
        </p:txBody>
      </p:sp>
    </p:spTree>
    <p:extLst>
      <p:ext uri="{BB962C8B-B14F-4D97-AF65-F5344CB8AC3E}">
        <p14:creationId xmlns:p14="http://schemas.microsoft.com/office/powerpoint/2010/main" val="3937823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GB"/>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089B66A-C420-F843-90FC-15CEBB34E416}" type="datetimeFigureOut">
              <a:rPr lang="en-US" smtClean="0"/>
              <a:t>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4E9FE0-EFB2-3B45-9E16-61AE00F20B09}" type="slidenum">
              <a:rPr lang="en-US" smtClean="0"/>
              <a:t>‹#›</a:t>
            </a:fld>
            <a:endParaRPr lang="en-US"/>
          </a:p>
        </p:txBody>
      </p:sp>
    </p:spTree>
    <p:extLst>
      <p:ext uri="{BB962C8B-B14F-4D97-AF65-F5344CB8AC3E}">
        <p14:creationId xmlns:p14="http://schemas.microsoft.com/office/powerpoint/2010/main" val="3032845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089B66A-C420-F843-90FC-15CEBB34E416}" type="datetimeFigureOut">
              <a:rPr lang="en-US" smtClean="0"/>
              <a:t>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4E9FE0-EFB2-3B45-9E16-61AE00F20B09}" type="slidenum">
              <a:rPr lang="en-US" smtClean="0"/>
              <a:t>‹#›</a:t>
            </a:fld>
            <a:endParaRPr lang="en-US"/>
          </a:p>
        </p:txBody>
      </p:sp>
    </p:spTree>
    <p:extLst>
      <p:ext uri="{BB962C8B-B14F-4D97-AF65-F5344CB8AC3E}">
        <p14:creationId xmlns:p14="http://schemas.microsoft.com/office/powerpoint/2010/main" val="2060360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89B66A-C420-F843-90FC-15CEBB34E416}" type="datetimeFigureOut">
              <a:rPr lang="en-US" smtClean="0"/>
              <a:t>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4E9FE0-EFB2-3B45-9E16-61AE00F20B09}" type="slidenum">
              <a:rPr lang="en-US" smtClean="0"/>
              <a:t>‹#›</a:t>
            </a:fld>
            <a:endParaRPr lang="en-US"/>
          </a:p>
        </p:txBody>
      </p:sp>
    </p:spTree>
    <p:extLst>
      <p:ext uri="{BB962C8B-B14F-4D97-AF65-F5344CB8AC3E}">
        <p14:creationId xmlns:p14="http://schemas.microsoft.com/office/powerpoint/2010/main" val="3401485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GB"/>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089B66A-C420-F843-90FC-15CEBB34E416}" type="datetimeFigureOut">
              <a:rPr lang="en-US" smtClean="0"/>
              <a:t>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4E9FE0-EFB2-3B45-9E16-61AE00F20B09}" type="slidenum">
              <a:rPr lang="en-US" smtClean="0"/>
              <a:t>‹#›</a:t>
            </a:fld>
            <a:endParaRPr lang="en-US"/>
          </a:p>
        </p:txBody>
      </p:sp>
    </p:spTree>
    <p:extLst>
      <p:ext uri="{BB962C8B-B14F-4D97-AF65-F5344CB8AC3E}">
        <p14:creationId xmlns:p14="http://schemas.microsoft.com/office/powerpoint/2010/main" val="24872252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089B66A-C420-F843-90FC-15CEBB34E416}" type="datetimeFigureOut">
              <a:rPr lang="en-US" smtClean="0"/>
              <a:t>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4E9FE0-EFB2-3B45-9E16-61AE00F20B09}" type="slidenum">
              <a:rPr lang="en-US" smtClean="0"/>
              <a:t>‹#›</a:t>
            </a:fld>
            <a:endParaRPr lang="en-US"/>
          </a:p>
        </p:txBody>
      </p:sp>
    </p:spTree>
    <p:extLst>
      <p:ext uri="{BB962C8B-B14F-4D97-AF65-F5344CB8AC3E}">
        <p14:creationId xmlns:p14="http://schemas.microsoft.com/office/powerpoint/2010/main" val="4141320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089B66A-C420-F843-90FC-15CEBB34E416}" type="datetimeFigureOut">
              <a:rPr lang="en-US" smtClean="0"/>
              <a:t>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4E9FE0-EFB2-3B45-9E16-61AE00F20B09}" type="slidenum">
              <a:rPr lang="en-US" smtClean="0"/>
              <a:t>‹#›</a:t>
            </a:fld>
            <a:endParaRPr lang="en-US"/>
          </a:p>
        </p:txBody>
      </p:sp>
    </p:spTree>
    <p:extLst>
      <p:ext uri="{BB962C8B-B14F-4D97-AF65-F5344CB8AC3E}">
        <p14:creationId xmlns:p14="http://schemas.microsoft.com/office/powerpoint/2010/main" val="1227692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7089B66A-C420-F843-90FC-15CEBB34E416}" type="datetimeFigureOut">
              <a:rPr lang="en-US" smtClean="0"/>
              <a:t>6/20/24</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14E9FE0-EFB2-3B45-9E16-61AE00F20B09}" type="slidenum">
              <a:rPr lang="en-US" smtClean="0"/>
              <a:t>‹#›</a:t>
            </a:fld>
            <a:endParaRPr lang="en-US"/>
          </a:p>
        </p:txBody>
      </p:sp>
    </p:spTree>
    <p:extLst>
      <p:ext uri="{BB962C8B-B14F-4D97-AF65-F5344CB8AC3E}">
        <p14:creationId xmlns:p14="http://schemas.microsoft.com/office/powerpoint/2010/main" val="3572817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7089B66A-C420-F843-90FC-15CEBB34E416}" type="datetimeFigureOut">
              <a:rPr lang="en-US" smtClean="0"/>
              <a:t>6/20/24</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14E9FE0-EFB2-3B45-9E16-61AE00F20B09}"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766875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7089B66A-C420-F843-90FC-15CEBB34E416}" type="datetimeFigureOut">
              <a:rPr lang="en-US" smtClean="0"/>
              <a:t>6/20/24</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14E9FE0-EFB2-3B45-9E16-61AE00F20B09}" type="slidenum">
              <a:rPr lang="en-US" smtClean="0"/>
              <a:t>‹#›</a:t>
            </a:fld>
            <a:endParaRPr lang="en-US"/>
          </a:p>
        </p:txBody>
      </p:sp>
    </p:spTree>
    <p:extLst>
      <p:ext uri="{BB962C8B-B14F-4D97-AF65-F5344CB8AC3E}">
        <p14:creationId xmlns:p14="http://schemas.microsoft.com/office/powerpoint/2010/main" val="2620691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GB"/>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7089B66A-C420-F843-90FC-15CEBB34E416}" type="datetimeFigureOut">
              <a:rPr lang="en-US" smtClean="0"/>
              <a:t>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4E9FE0-EFB2-3B45-9E16-61AE00F20B09}" type="slidenum">
              <a:rPr lang="en-US" smtClean="0"/>
              <a:t>‹#›</a:t>
            </a:fld>
            <a:endParaRPr lang="en-US"/>
          </a:p>
        </p:txBody>
      </p:sp>
    </p:spTree>
    <p:extLst>
      <p:ext uri="{BB962C8B-B14F-4D97-AF65-F5344CB8AC3E}">
        <p14:creationId xmlns:p14="http://schemas.microsoft.com/office/powerpoint/2010/main" val="40187162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7089B66A-C420-F843-90FC-15CEBB34E416}" type="datetimeFigureOut">
              <a:rPr lang="en-US" smtClean="0"/>
              <a:t>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4E9FE0-EFB2-3B45-9E16-61AE00F20B09}" type="slidenum">
              <a:rPr lang="en-US" smtClean="0"/>
              <a:t>‹#›</a:t>
            </a:fld>
            <a:endParaRPr lang="en-US"/>
          </a:p>
        </p:txBody>
      </p:sp>
    </p:spTree>
    <p:extLst>
      <p:ext uri="{BB962C8B-B14F-4D97-AF65-F5344CB8AC3E}">
        <p14:creationId xmlns:p14="http://schemas.microsoft.com/office/powerpoint/2010/main" val="29260884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089B66A-C420-F843-90FC-15CEBB34E416}" type="datetimeFigureOut">
              <a:rPr lang="en-US" smtClean="0"/>
              <a:t>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4E9FE0-EFB2-3B45-9E16-61AE00F20B09}" type="slidenum">
              <a:rPr lang="en-US" smtClean="0"/>
              <a:t>‹#›</a:t>
            </a:fld>
            <a:endParaRPr lang="en-US"/>
          </a:p>
        </p:txBody>
      </p:sp>
    </p:spTree>
    <p:extLst>
      <p:ext uri="{BB962C8B-B14F-4D97-AF65-F5344CB8AC3E}">
        <p14:creationId xmlns:p14="http://schemas.microsoft.com/office/powerpoint/2010/main" val="490636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7089B66A-C420-F843-90FC-15CEBB34E416}" type="datetimeFigureOut">
              <a:rPr lang="en-US" smtClean="0"/>
              <a:t>6/20/24</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714E9FE0-EFB2-3B45-9E16-61AE00F20B09}" type="slidenum">
              <a:rPr lang="en-US" smtClean="0"/>
              <a:t>‹#›</a:t>
            </a:fld>
            <a:endParaRPr lang="en-US"/>
          </a:p>
        </p:txBody>
      </p:sp>
    </p:spTree>
    <p:extLst>
      <p:ext uri="{BB962C8B-B14F-4D97-AF65-F5344CB8AC3E}">
        <p14:creationId xmlns:p14="http://schemas.microsoft.com/office/powerpoint/2010/main" val="2885782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089B66A-C420-F843-90FC-15CEBB34E416}" type="datetimeFigureOut">
              <a:rPr lang="en-US" smtClean="0"/>
              <a:t>6/20/24</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14E9FE0-EFB2-3B45-9E16-61AE00F20B09}" type="slidenum">
              <a:rPr lang="en-US" smtClean="0"/>
              <a:t>‹#›</a:t>
            </a:fld>
            <a:endParaRPr lang="en-US"/>
          </a:p>
        </p:txBody>
      </p:sp>
    </p:spTree>
    <p:extLst>
      <p:ext uri="{BB962C8B-B14F-4D97-AF65-F5344CB8AC3E}">
        <p14:creationId xmlns:p14="http://schemas.microsoft.com/office/powerpoint/2010/main" val="1334372144"/>
      </p:ext>
    </p:extLst>
  </p:cSld>
  <p:clrMap bg1="dk1" tx1="lt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CD9ACDE-8038-488C-AB0C-5FD1A373C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FE94A7-C6EE-A6B9-B476-DA445504943A}"/>
              </a:ext>
            </a:extLst>
          </p:cNvPr>
          <p:cNvSpPr>
            <a:spLocks noGrp="1"/>
          </p:cNvSpPr>
          <p:nvPr>
            <p:ph type="ctrTitle"/>
          </p:nvPr>
        </p:nvSpPr>
        <p:spPr>
          <a:xfrm>
            <a:off x="3854450" y="965200"/>
            <a:ext cx="7372350" cy="3404680"/>
          </a:xfrm>
        </p:spPr>
        <p:txBody>
          <a:bodyPr>
            <a:normAutofit/>
          </a:bodyPr>
          <a:lstStyle/>
          <a:p>
            <a:r>
              <a:rPr lang="en-US"/>
              <a:t>IEUK Work Sample</a:t>
            </a:r>
          </a:p>
        </p:txBody>
      </p:sp>
      <p:sp>
        <p:nvSpPr>
          <p:cNvPr id="3" name="Subtitle 2">
            <a:extLst>
              <a:ext uri="{FF2B5EF4-FFF2-40B4-BE49-F238E27FC236}">
                <a16:creationId xmlns:a16="http://schemas.microsoft.com/office/drawing/2014/main" id="{F441D512-C62F-E4C1-A07A-49C51C1629D3}"/>
              </a:ext>
            </a:extLst>
          </p:cNvPr>
          <p:cNvSpPr>
            <a:spLocks noGrp="1"/>
          </p:cNvSpPr>
          <p:nvPr>
            <p:ph type="subTitle" idx="1"/>
          </p:nvPr>
        </p:nvSpPr>
        <p:spPr>
          <a:xfrm>
            <a:off x="3854450" y="4503906"/>
            <a:ext cx="7372350" cy="1388892"/>
          </a:xfrm>
        </p:spPr>
        <p:txBody>
          <a:bodyPr>
            <a:normAutofit/>
          </a:bodyPr>
          <a:lstStyle/>
          <a:p>
            <a:r>
              <a:rPr lang="en-US"/>
              <a:t>By: Ion Temciuc</a:t>
            </a:r>
          </a:p>
        </p:txBody>
      </p:sp>
      <p:sp>
        <p:nvSpPr>
          <p:cNvPr id="15" name="Rectangle 14">
            <a:extLst>
              <a:ext uri="{FF2B5EF4-FFF2-40B4-BE49-F238E27FC236}">
                <a16:creationId xmlns:a16="http://schemas.microsoft.com/office/drawing/2014/main" id="{DA6C2449-5F66-4753-AAA3-4AD81E57A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06393"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6" name="Picture 15">
            <a:extLst>
              <a:ext uri="{FF2B5EF4-FFF2-40B4-BE49-F238E27FC236}">
                <a16:creationId xmlns:a16="http://schemas.microsoft.com/office/drawing/2014/main" id="{A57D80F0-E0CE-4DCF-A32A-DB7CE736472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1264032" y="2187576"/>
            <a:ext cx="6857999" cy="2482850"/>
          </a:xfrm>
          <a:prstGeom prst="rect">
            <a:avLst/>
          </a:prstGeom>
        </p:spPr>
      </p:pic>
    </p:spTree>
    <p:extLst>
      <p:ext uri="{BB962C8B-B14F-4D97-AF65-F5344CB8AC3E}">
        <p14:creationId xmlns:p14="http://schemas.microsoft.com/office/powerpoint/2010/main" val="226135098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ounded Rectangle 14">
            <a:extLst>
              <a:ext uri="{FF2B5EF4-FFF2-40B4-BE49-F238E27FC236}">
                <a16:creationId xmlns:a16="http://schemas.microsoft.com/office/drawing/2014/main" id="{934B872D-6FE9-472A-9E92-342E41DA7C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0"/>
            <a:ext cx="7555992"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488DEBA6-2ED2-4FED-8AAB-2F855348DD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ln>
            <a:noFill/>
          </a:ln>
          <a:effectLst>
            <a:outerShdw blurRad="63500" dist="38100" algn="l" rotWithShape="0">
              <a:prstClr val="black">
                <a:alpha val="40000"/>
              </a:prstClr>
            </a:outerShdw>
          </a:effectLst>
        </p:spPr>
        <p:style>
          <a:lnRef idx="2">
            <a:schemeClr val="accent1">
              <a:shade val="50000"/>
            </a:schemeClr>
          </a:lnRef>
          <a:fillRef idx="1003">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2" name="Picture 11">
            <a:extLst>
              <a:ext uri="{FF2B5EF4-FFF2-40B4-BE49-F238E27FC236}">
                <a16:creationId xmlns:a16="http://schemas.microsoft.com/office/drawing/2014/main" id="{32162F0F-A9B7-409A-AD12-ADD441861C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6697" r="55278"/>
          <a:stretch/>
        </p:blipFill>
        <p:spPr>
          <a:xfrm>
            <a:off x="0" y="4375150"/>
            <a:ext cx="4636008" cy="2482850"/>
          </a:xfrm>
          <a:prstGeom prst="rect">
            <a:avLst/>
          </a:prstGeom>
        </p:spPr>
      </p:pic>
      <p:sp>
        <p:nvSpPr>
          <p:cNvPr id="2" name="Title 1">
            <a:extLst>
              <a:ext uri="{FF2B5EF4-FFF2-40B4-BE49-F238E27FC236}">
                <a16:creationId xmlns:a16="http://schemas.microsoft.com/office/drawing/2014/main" id="{6B2200AC-BCBB-7701-CA7E-3A9E0F7E2AD6}"/>
              </a:ext>
            </a:extLst>
          </p:cNvPr>
          <p:cNvSpPr>
            <a:spLocks noGrp="1"/>
          </p:cNvSpPr>
          <p:nvPr>
            <p:ph type="title"/>
          </p:nvPr>
        </p:nvSpPr>
        <p:spPr>
          <a:xfrm>
            <a:off x="643466" y="804334"/>
            <a:ext cx="3471333" cy="5249333"/>
          </a:xfrm>
        </p:spPr>
        <p:txBody>
          <a:bodyPr>
            <a:normAutofit/>
          </a:bodyPr>
          <a:lstStyle/>
          <a:p>
            <a:r>
              <a:rPr lang="en-US">
                <a:solidFill>
                  <a:srgbClr val="FFFFFF"/>
                </a:solidFill>
              </a:rPr>
              <a:t>Intro</a:t>
            </a:r>
          </a:p>
        </p:txBody>
      </p:sp>
      <p:sp>
        <p:nvSpPr>
          <p:cNvPr id="17" name="Content Placeholder 2">
            <a:extLst>
              <a:ext uri="{FF2B5EF4-FFF2-40B4-BE49-F238E27FC236}">
                <a16:creationId xmlns:a16="http://schemas.microsoft.com/office/drawing/2014/main" id="{F1CDBC93-A072-EC36-9811-7B1726646AEA}"/>
              </a:ext>
            </a:extLst>
          </p:cNvPr>
          <p:cNvSpPr>
            <a:spLocks noGrp="1"/>
          </p:cNvSpPr>
          <p:nvPr>
            <p:ph idx="1"/>
          </p:nvPr>
        </p:nvSpPr>
        <p:spPr>
          <a:xfrm>
            <a:off x="5234722" y="804334"/>
            <a:ext cx="6271477" cy="5249333"/>
          </a:xfrm>
        </p:spPr>
        <p:txBody>
          <a:bodyPr anchor="ctr">
            <a:normAutofit/>
          </a:bodyPr>
          <a:lstStyle/>
          <a:p>
            <a:pPr marL="0" indent="0">
              <a:buNone/>
            </a:pPr>
            <a:r>
              <a:rPr lang="en-US">
                <a:solidFill>
                  <a:schemeClr val="tx2"/>
                </a:solidFill>
              </a:rPr>
              <a:t>For this project I will be taking the role of a Project Manager(PM) for a start-up company that I recently joined, RunWize. The main objective I must achieve as the PM is to enhance user engagement and subscription growth. </a:t>
            </a:r>
          </a:p>
          <a:p>
            <a:pPr marL="0" indent="0">
              <a:buNone/>
            </a:pPr>
            <a:r>
              <a:rPr lang="en-US">
                <a:solidFill>
                  <a:schemeClr val="tx2"/>
                </a:solidFill>
              </a:rPr>
              <a:t>The key results are set as follows:</a:t>
            </a:r>
          </a:p>
          <a:p>
            <a:r>
              <a:rPr lang="en-US">
                <a:solidFill>
                  <a:schemeClr val="tx2"/>
                </a:solidFill>
              </a:rPr>
              <a:t>Achieve a 15% increase in Monthly Average Users (MAU)</a:t>
            </a:r>
          </a:p>
          <a:p>
            <a:pPr marL="0" indent="0">
              <a:buNone/>
            </a:pPr>
            <a:r>
              <a:rPr lang="en-US">
                <a:solidFill>
                  <a:schemeClr val="tx2"/>
                </a:solidFill>
              </a:rPr>
              <a:t>   within six months.</a:t>
            </a:r>
          </a:p>
          <a:p>
            <a:r>
              <a:rPr lang="en-US">
                <a:solidFill>
                  <a:schemeClr val="tx2"/>
                </a:solidFill>
              </a:rPr>
              <a:t>Increase the paid subscriber count by 20% within six</a:t>
            </a:r>
          </a:p>
          <a:p>
            <a:pPr marL="0" indent="0">
              <a:buNone/>
            </a:pPr>
            <a:r>
              <a:rPr lang="en-US">
                <a:solidFill>
                  <a:schemeClr val="tx2"/>
                </a:solidFill>
              </a:rPr>
              <a:t>   months. </a:t>
            </a:r>
          </a:p>
        </p:txBody>
      </p:sp>
    </p:spTree>
    <p:extLst>
      <p:ext uri="{BB962C8B-B14F-4D97-AF65-F5344CB8AC3E}">
        <p14:creationId xmlns:p14="http://schemas.microsoft.com/office/powerpoint/2010/main" val="3165670131"/>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7B2AF-5718-D67F-BB0B-C26A54554D94}"/>
              </a:ext>
            </a:extLst>
          </p:cNvPr>
          <p:cNvSpPr>
            <a:spLocks noGrp="1"/>
          </p:cNvSpPr>
          <p:nvPr>
            <p:ph type="title"/>
          </p:nvPr>
        </p:nvSpPr>
        <p:spPr/>
        <p:txBody>
          <a:bodyPr/>
          <a:lstStyle/>
          <a:p>
            <a:r>
              <a:rPr lang="en-US"/>
              <a:t>Current company state</a:t>
            </a:r>
          </a:p>
        </p:txBody>
      </p:sp>
      <p:sp>
        <p:nvSpPr>
          <p:cNvPr id="3" name="Content Placeholder 2">
            <a:extLst>
              <a:ext uri="{FF2B5EF4-FFF2-40B4-BE49-F238E27FC236}">
                <a16:creationId xmlns:a16="http://schemas.microsoft.com/office/drawing/2014/main" id="{1F497AEE-66C3-CC1F-E2FA-C9DDC6C1AA0F}"/>
              </a:ext>
            </a:extLst>
          </p:cNvPr>
          <p:cNvSpPr>
            <a:spLocks noGrp="1"/>
          </p:cNvSpPr>
          <p:nvPr>
            <p:ph idx="1"/>
          </p:nvPr>
        </p:nvSpPr>
        <p:spPr/>
        <p:txBody>
          <a:bodyPr/>
          <a:lstStyle/>
          <a:p>
            <a:r>
              <a:rPr lang="en-US"/>
              <a:t>Company has been on the market for just over a year</a:t>
            </a:r>
          </a:p>
          <a:p>
            <a:r>
              <a:rPr lang="en-US"/>
              <a:t>Has the main goal to become nr.1 fitness app in UK</a:t>
            </a:r>
          </a:p>
          <a:p>
            <a:r>
              <a:rPr lang="en-US"/>
              <a:t>Has apps for Android, IOS and for Smart Watches</a:t>
            </a:r>
          </a:p>
          <a:p>
            <a:r>
              <a:rPr lang="en-US"/>
              <a:t>Mission: Empower runners, transform lives, and create a</a:t>
            </a:r>
          </a:p>
          <a:p>
            <a:pPr marL="0" indent="0">
              <a:buNone/>
            </a:pPr>
            <a:r>
              <a:rPr lang="en-US"/>
              <a:t>   vibrant community that thrives on health, resilience, and</a:t>
            </a:r>
          </a:p>
          <a:p>
            <a:pPr marL="0" indent="0">
              <a:buNone/>
            </a:pPr>
            <a:r>
              <a:rPr lang="en-US"/>
              <a:t>   boundless achievement.</a:t>
            </a:r>
          </a:p>
        </p:txBody>
      </p:sp>
    </p:spTree>
    <p:extLst>
      <p:ext uri="{BB962C8B-B14F-4D97-AF65-F5344CB8AC3E}">
        <p14:creationId xmlns:p14="http://schemas.microsoft.com/office/powerpoint/2010/main" val="2946189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C41CF4-4A13-4AA9-9300-CB7A2E37C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F2C0CD1B-BC1E-29FD-47C6-431F23416520}"/>
              </a:ext>
            </a:extLst>
          </p:cNvPr>
          <p:cNvSpPr>
            <a:spLocks noGrp="1"/>
          </p:cNvSpPr>
          <p:nvPr>
            <p:ph type="title"/>
          </p:nvPr>
        </p:nvSpPr>
        <p:spPr>
          <a:xfrm>
            <a:off x="683609" y="764372"/>
            <a:ext cx="3173688" cy="5216013"/>
          </a:xfrm>
        </p:spPr>
        <p:txBody>
          <a:bodyPr>
            <a:normAutofit/>
          </a:bodyPr>
          <a:lstStyle/>
          <a:p>
            <a:r>
              <a:rPr lang="en-US"/>
              <a:t>Problem faced</a:t>
            </a:r>
          </a:p>
        </p:txBody>
      </p:sp>
      <p:cxnSp>
        <p:nvCxnSpPr>
          <p:cNvPr id="10" name="Straight Connector 9">
            <a:extLst>
              <a:ext uri="{FF2B5EF4-FFF2-40B4-BE49-F238E27FC236}">
                <a16:creationId xmlns:a16="http://schemas.microsoft.com/office/drawing/2014/main" id="{7A77B115-9FF3-46AE-AE08-826DEB9A62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27197" y="1923563"/>
            <a:ext cx="0" cy="301752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6F09454-88F3-EAC3-BCA9-D91F7EA2D0FA}"/>
              </a:ext>
            </a:extLst>
          </p:cNvPr>
          <p:cNvSpPr>
            <a:spLocks noGrp="1"/>
          </p:cNvSpPr>
          <p:nvPr>
            <p:ph idx="1"/>
          </p:nvPr>
        </p:nvSpPr>
        <p:spPr>
          <a:xfrm>
            <a:off x="4370138" y="764372"/>
            <a:ext cx="7086600" cy="5216013"/>
          </a:xfrm>
        </p:spPr>
        <p:txBody>
          <a:bodyPr anchor="ctr">
            <a:normAutofit/>
          </a:bodyPr>
          <a:lstStyle/>
          <a:p>
            <a:pPr marL="0" indent="0">
              <a:buNone/>
            </a:pPr>
            <a:r>
              <a:rPr lang="en-US" sz="2000"/>
              <a:t> In the past three months, the number of monthly</a:t>
            </a:r>
          </a:p>
          <a:p>
            <a:pPr marL="0" indent="0">
              <a:buNone/>
            </a:pPr>
            <a:r>
              <a:rPr lang="en-US" sz="2000"/>
              <a:t>app users has declined, as well as a churn of 10% in our paid</a:t>
            </a:r>
          </a:p>
          <a:p>
            <a:pPr marL="0" indent="0">
              <a:buNone/>
            </a:pPr>
            <a:r>
              <a:rPr lang="en-US" sz="2000"/>
              <a:t>subscribers since the start of this year.</a:t>
            </a:r>
          </a:p>
          <a:p>
            <a:pPr marL="0" indent="0">
              <a:buNone/>
            </a:pPr>
            <a:r>
              <a:rPr lang="en-US" sz="2000"/>
              <a:t>(insert image of declining trend )</a:t>
            </a:r>
          </a:p>
        </p:txBody>
      </p:sp>
      <p:pic>
        <p:nvPicPr>
          <p:cNvPr id="6" name="Graphic 5" descr="Downward trend graph with solid fill">
            <a:extLst>
              <a:ext uri="{FF2B5EF4-FFF2-40B4-BE49-F238E27FC236}">
                <a16:creationId xmlns:a16="http://schemas.microsoft.com/office/drawing/2014/main" id="{D5C8DA17-2B15-1A32-3C56-12C3FCC019F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8267" y="314325"/>
            <a:ext cx="2835981" cy="2133600"/>
          </a:xfrm>
          <a:prstGeom prst="rect">
            <a:avLst/>
          </a:prstGeom>
        </p:spPr>
      </p:pic>
    </p:spTree>
    <p:extLst>
      <p:ext uri="{BB962C8B-B14F-4D97-AF65-F5344CB8AC3E}">
        <p14:creationId xmlns:p14="http://schemas.microsoft.com/office/powerpoint/2010/main" val="1941871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B2C71-9622-BC72-CF46-B82817ED12B1}"/>
              </a:ext>
            </a:extLst>
          </p:cNvPr>
          <p:cNvSpPr>
            <a:spLocks noGrp="1"/>
          </p:cNvSpPr>
          <p:nvPr>
            <p:ph type="title"/>
          </p:nvPr>
        </p:nvSpPr>
        <p:spPr/>
        <p:txBody>
          <a:bodyPr/>
          <a:lstStyle/>
          <a:p>
            <a:r>
              <a:rPr lang="en-US"/>
              <a:t>Current Features</a:t>
            </a:r>
          </a:p>
        </p:txBody>
      </p:sp>
      <p:sp>
        <p:nvSpPr>
          <p:cNvPr id="3" name="Content Placeholder 2">
            <a:extLst>
              <a:ext uri="{FF2B5EF4-FFF2-40B4-BE49-F238E27FC236}">
                <a16:creationId xmlns:a16="http://schemas.microsoft.com/office/drawing/2014/main" id="{B084C712-06F7-D218-47BC-254EAD67D46A}"/>
              </a:ext>
            </a:extLst>
          </p:cNvPr>
          <p:cNvSpPr>
            <a:spLocks noGrp="1"/>
          </p:cNvSpPr>
          <p:nvPr>
            <p:ph idx="1"/>
          </p:nvPr>
        </p:nvSpPr>
        <p:spPr/>
        <p:txBody>
          <a:bodyPr>
            <a:normAutofit/>
          </a:bodyPr>
          <a:lstStyle/>
          <a:p>
            <a:r>
              <a:rPr lang="en-US"/>
              <a:t>GPS route tracking, which informs users</a:t>
            </a:r>
          </a:p>
          <a:p>
            <a:pPr marL="0" indent="0">
              <a:buNone/>
            </a:pPr>
            <a:r>
              <a:rPr lang="en-US"/>
              <a:t>   about their route distance </a:t>
            </a:r>
          </a:p>
          <a:p>
            <a:r>
              <a:rPr lang="en-US"/>
              <a:t>Users can design runs of 5k, 10k and 20k routes</a:t>
            </a:r>
          </a:p>
          <a:p>
            <a:pPr marL="0" indent="0">
              <a:buNone/>
            </a:pPr>
            <a:r>
              <a:rPr lang="en-US"/>
              <a:t>   on a map before setting off</a:t>
            </a:r>
          </a:p>
          <a:p>
            <a:r>
              <a:rPr lang="en-GB"/>
              <a:t>Users can set notification reminders to run on specific days</a:t>
            </a:r>
            <a:endParaRPr lang="en-US"/>
          </a:p>
          <a:p>
            <a:r>
              <a:rPr lang="en-US"/>
              <a:t>Tracking metrics about a particular run including</a:t>
            </a:r>
          </a:p>
          <a:p>
            <a:pPr marL="0" indent="0">
              <a:buNone/>
            </a:pPr>
            <a:r>
              <a:rPr lang="en-US"/>
              <a:t>   pace, heart rate, stride length, and cadence (when</a:t>
            </a:r>
          </a:p>
          <a:p>
            <a:pPr marL="0" indent="0">
              <a:buNone/>
            </a:pPr>
            <a:r>
              <a:rPr lang="en-US"/>
              <a:t>   using a compatible watch) </a:t>
            </a:r>
          </a:p>
          <a:p>
            <a:r>
              <a:rPr lang="en-GB"/>
              <a:t>Users can set weekly distance targets</a:t>
            </a:r>
            <a:endParaRPr lang="en-US"/>
          </a:p>
        </p:txBody>
      </p:sp>
    </p:spTree>
    <p:extLst>
      <p:ext uri="{BB962C8B-B14F-4D97-AF65-F5344CB8AC3E}">
        <p14:creationId xmlns:p14="http://schemas.microsoft.com/office/powerpoint/2010/main" val="150552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030FD700-069E-45B7-99EE-9FD40B196D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useBgFill="1">
        <p:nvSpPr>
          <p:cNvPr id="14" name="Rectangle 13">
            <a:extLst>
              <a:ext uri="{FF2B5EF4-FFF2-40B4-BE49-F238E27FC236}">
                <a16:creationId xmlns:a16="http://schemas.microsoft.com/office/drawing/2014/main" id="{86CD3965-7576-4EBB-9FEA-0E73E2DB4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12192000"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A4B15F5-9B02-4280-9F50-172515BF4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86000"/>
          </a:xfrm>
          <a:prstGeom prst="rect">
            <a:avLst/>
          </a:prstGeom>
          <a:solidFill>
            <a:schemeClr val="tx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E3A5BBF0-37C3-4339-BD51-F7A980A93B6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1">
            <a:extLst>
              <a:ext uri="{FF2B5EF4-FFF2-40B4-BE49-F238E27FC236}">
                <a16:creationId xmlns:a16="http://schemas.microsoft.com/office/drawing/2014/main" id="{39343840-F972-11E3-F967-F95430777EDD}"/>
              </a:ext>
            </a:extLst>
          </p:cNvPr>
          <p:cNvSpPr>
            <a:spLocks noGrp="1"/>
          </p:cNvSpPr>
          <p:nvPr>
            <p:ph type="title"/>
          </p:nvPr>
        </p:nvSpPr>
        <p:spPr>
          <a:xfrm>
            <a:off x="2895600" y="764373"/>
            <a:ext cx="8610600" cy="1293028"/>
          </a:xfrm>
        </p:spPr>
        <p:txBody>
          <a:bodyPr vert="horz" lIns="91440" tIns="45720" rIns="91440" bIns="45720" rtlCol="0" anchor="ctr">
            <a:normAutofit/>
          </a:bodyPr>
          <a:lstStyle/>
          <a:p>
            <a:r>
              <a:rPr lang="en-US">
                <a:solidFill>
                  <a:schemeClr val="bg1"/>
                </a:solidFill>
              </a:rPr>
              <a:t>Our users feedback</a:t>
            </a:r>
          </a:p>
        </p:txBody>
      </p:sp>
      <p:sp>
        <p:nvSpPr>
          <p:cNvPr id="4" name="Text Placeholder 3">
            <a:extLst>
              <a:ext uri="{FF2B5EF4-FFF2-40B4-BE49-F238E27FC236}">
                <a16:creationId xmlns:a16="http://schemas.microsoft.com/office/drawing/2014/main" id="{06DE563B-F314-2CCC-5F0A-C12421C71AC3}"/>
              </a:ext>
            </a:extLst>
          </p:cNvPr>
          <p:cNvSpPr>
            <a:spLocks/>
          </p:cNvSpPr>
          <p:nvPr/>
        </p:nvSpPr>
        <p:spPr>
          <a:xfrm>
            <a:off x="839788" y="1681163"/>
            <a:ext cx="5180013" cy="45719"/>
          </a:xfrm>
          <a:prstGeom prst="rect">
            <a:avLst/>
          </a:prstGeom>
        </p:spPr>
        <p:txBody>
          <a:bodyPr>
            <a:normAutofit fontScale="25000" lnSpcReduction="20000"/>
          </a:bodyPr>
          <a:lstStyle/>
          <a:p>
            <a:endParaRPr lang="en-US"/>
          </a:p>
        </p:txBody>
      </p:sp>
      <p:sp>
        <p:nvSpPr>
          <p:cNvPr id="6" name="Text Placeholder 5">
            <a:extLst>
              <a:ext uri="{FF2B5EF4-FFF2-40B4-BE49-F238E27FC236}">
                <a16:creationId xmlns:a16="http://schemas.microsoft.com/office/drawing/2014/main" id="{CDB3591F-E79D-3C88-DFF0-39ECD2A32829}"/>
              </a:ext>
            </a:extLst>
          </p:cNvPr>
          <p:cNvSpPr>
            <a:spLocks/>
          </p:cNvSpPr>
          <p:nvPr/>
        </p:nvSpPr>
        <p:spPr>
          <a:xfrm>
            <a:off x="6377048" y="1681163"/>
            <a:ext cx="4978339" cy="45719"/>
          </a:xfrm>
          <a:prstGeom prst="rect">
            <a:avLst/>
          </a:prstGeom>
        </p:spPr>
        <p:txBody>
          <a:bodyPr>
            <a:normAutofit fontScale="25000" lnSpcReduction="20000"/>
          </a:bodyPr>
          <a:lstStyle/>
          <a:p>
            <a:endParaRPr lang="en-US"/>
          </a:p>
        </p:txBody>
      </p:sp>
      <p:sp>
        <p:nvSpPr>
          <p:cNvPr id="5" name="Content Placeholder 4">
            <a:extLst>
              <a:ext uri="{FF2B5EF4-FFF2-40B4-BE49-F238E27FC236}">
                <a16:creationId xmlns:a16="http://schemas.microsoft.com/office/drawing/2014/main" id="{72C07056-A605-7113-9053-B34F345BF3E3}"/>
              </a:ext>
            </a:extLst>
          </p:cNvPr>
          <p:cNvSpPr>
            <a:spLocks/>
          </p:cNvSpPr>
          <p:nvPr/>
        </p:nvSpPr>
        <p:spPr>
          <a:xfrm>
            <a:off x="2054437" y="2878138"/>
            <a:ext cx="3990142" cy="3340100"/>
          </a:xfrm>
          <a:prstGeom prst="rect">
            <a:avLst/>
          </a:prstGeom>
        </p:spPr>
        <p:txBody>
          <a:bodyPr>
            <a:noAutofit/>
          </a:bodyPr>
          <a:lstStyle/>
          <a:p>
            <a:pPr defTabSz="306324">
              <a:spcAft>
                <a:spcPts val="600"/>
              </a:spcAft>
            </a:pPr>
            <a:r>
              <a:rPr lang="en-US" sz="938" kern="1200">
                <a:solidFill>
                  <a:schemeClr val="tx1"/>
                </a:solidFill>
                <a:latin typeface="+mn-lt"/>
                <a:ea typeface="+mn-ea"/>
                <a:cs typeface="+mn-cs"/>
              </a:rPr>
              <a:t>1. "The weekly distance targets can be discouraging for</a:t>
            </a:r>
          </a:p>
          <a:p>
            <a:pPr defTabSz="306324">
              <a:spcAft>
                <a:spcPts val="600"/>
              </a:spcAft>
            </a:pPr>
            <a:r>
              <a:rPr lang="en-US" sz="938" kern="1200">
                <a:solidFill>
                  <a:schemeClr val="tx1"/>
                </a:solidFill>
                <a:latin typeface="+mn-lt"/>
                <a:ea typeface="+mn-ea"/>
                <a:cs typeface="+mn-cs"/>
              </a:rPr>
              <a:t>someone just starting out. I’d like more flexibility in setting</a:t>
            </a:r>
          </a:p>
          <a:p>
            <a:pPr defTabSz="306324">
              <a:spcAft>
                <a:spcPts val="600"/>
              </a:spcAft>
            </a:pPr>
            <a:r>
              <a:rPr lang="en-US" sz="938" kern="1200">
                <a:solidFill>
                  <a:schemeClr val="tx1"/>
                </a:solidFill>
                <a:latin typeface="+mn-lt"/>
                <a:ea typeface="+mn-ea"/>
                <a:cs typeface="+mn-cs"/>
              </a:rPr>
              <a:t>achievable goals that match my fitness level."</a:t>
            </a:r>
          </a:p>
          <a:p>
            <a:pPr defTabSz="306324">
              <a:spcAft>
                <a:spcPts val="600"/>
              </a:spcAft>
            </a:pPr>
            <a:r>
              <a:rPr lang="en-US" sz="938" kern="1200">
                <a:solidFill>
                  <a:schemeClr val="tx1"/>
                </a:solidFill>
                <a:latin typeface="+mn-lt"/>
                <a:ea typeface="+mn-ea"/>
                <a:cs typeface="+mn-cs"/>
              </a:rPr>
              <a:t>2. "The app could provide more guidance on how to interpret</a:t>
            </a:r>
          </a:p>
          <a:p>
            <a:pPr defTabSz="306324">
              <a:spcAft>
                <a:spcPts val="600"/>
              </a:spcAft>
            </a:pPr>
            <a:r>
              <a:rPr lang="en-US" sz="938" kern="1200">
                <a:solidFill>
                  <a:schemeClr val="tx1"/>
                </a:solidFill>
                <a:latin typeface="+mn-lt"/>
                <a:ea typeface="+mn-ea"/>
                <a:cs typeface="+mn-cs"/>
              </a:rPr>
              <a:t>the metrics like stride length and cadence. As a beginner, I’m</a:t>
            </a:r>
          </a:p>
          <a:p>
            <a:pPr defTabSz="306324">
              <a:spcAft>
                <a:spcPts val="600"/>
              </a:spcAft>
            </a:pPr>
            <a:r>
              <a:rPr lang="en-US" sz="938" kern="1200">
                <a:solidFill>
                  <a:schemeClr val="tx1"/>
                </a:solidFill>
                <a:latin typeface="+mn-lt"/>
                <a:ea typeface="+mn-ea"/>
                <a:cs typeface="+mn-cs"/>
              </a:rPr>
              <a:t>not sure what these mean for my running."</a:t>
            </a:r>
          </a:p>
          <a:p>
            <a:pPr defTabSz="306324">
              <a:spcAft>
                <a:spcPts val="600"/>
              </a:spcAft>
            </a:pPr>
            <a:r>
              <a:rPr lang="en-US" sz="938" kern="1200">
                <a:solidFill>
                  <a:schemeClr val="tx1"/>
                </a:solidFill>
                <a:latin typeface="+mn-lt"/>
                <a:ea typeface="+mn-ea"/>
                <a:cs typeface="+mn-cs"/>
              </a:rPr>
              <a:t>3. “The reminders feature doesn’t always send me notifications</a:t>
            </a:r>
          </a:p>
          <a:p>
            <a:pPr defTabSz="306324">
              <a:spcAft>
                <a:spcPts val="600"/>
              </a:spcAft>
            </a:pPr>
            <a:r>
              <a:rPr lang="en-US" sz="938" kern="1200">
                <a:solidFill>
                  <a:schemeClr val="tx1"/>
                </a:solidFill>
                <a:latin typeface="+mn-lt"/>
                <a:ea typeface="+mn-ea"/>
                <a:cs typeface="+mn-cs"/>
              </a:rPr>
              <a:t>on the correct day”</a:t>
            </a:r>
          </a:p>
          <a:p>
            <a:pPr defTabSz="306324">
              <a:spcAft>
                <a:spcPts val="600"/>
              </a:spcAft>
            </a:pPr>
            <a:r>
              <a:rPr lang="en-US" sz="938" kern="1200">
                <a:solidFill>
                  <a:schemeClr val="tx1"/>
                </a:solidFill>
                <a:latin typeface="+mn-lt"/>
                <a:ea typeface="+mn-ea"/>
                <a:cs typeface="+mn-cs"/>
              </a:rPr>
              <a:t>4. "There isn’t enough post-run analysis. I'd appreciate more</a:t>
            </a:r>
          </a:p>
          <a:p>
            <a:pPr defTabSz="306324">
              <a:spcAft>
                <a:spcPts val="600"/>
              </a:spcAft>
            </a:pPr>
            <a:r>
              <a:rPr lang="en-US" sz="938" kern="1200">
                <a:solidFill>
                  <a:schemeClr val="tx1"/>
                </a:solidFill>
                <a:latin typeface="+mn-lt"/>
                <a:ea typeface="+mn-ea"/>
                <a:cs typeface="+mn-cs"/>
              </a:rPr>
              <a:t>detailed feedback on my performance and suggestions on how</a:t>
            </a:r>
          </a:p>
          <a:p>
            <a:pPr defTabSz="306324">
              <a:spcAft>
                <a:spcPts val="600"/>
              </a:spcAft>
            </a:pPr>
            <a:r>
              <a:rPr lang="en-US" sz="938" kern="1200">
                <a:solidFill>
                  <a:schemeClr val="tx1"/>
                </a:solidFill>
                <a:latin typeface="+mn-lt"/>
                <a:ea typeface="+mn-ea"/>
                <a:cs typeface="+mn-cs"/>
              </a:rPr>
              <a:t>to improve."</a:t>
            </a:r>
          </a:p>
          <a:p>
            <a:pPr defTabSz="306324">
              <a:spcAft>
                <a:spcPts val="600"/>
              </a:spcAft>
            </a:pPr>
            <a:r>
              <a:rPr lang="en-US" sz="938" kern="1200">
                <a:solidFill>
                  <a:schemeClr val="tx1"/>
                </a:solidFill>
                <a:latin typeface="+mn-lt"/>
                <a:ea typeface="+mn-ea"/>
                <a:cs typeface="+mn-cs"/>
              </a:rPr>
              <a:t>5. "The app is missing advanced training features like interval</a:t>
            </a:r>
          </a:p>
          <a:p>
            <a:pPr defTabSz="306324">
              <a:spcAft>
                <a:spcPts val="600"/>
              </a:spcAft>
            </a:pPr>
            <a:r>
              <a:rPr lang="en-US" sz="938" kern="1200">
                <a:solidFill>
                  <a:schemeClr val="tx1"/>
                </a:solidFill>
                <a:latin typeface="+mn-lt"/>
                <a:ea typeface="+mn-ea"/>
                <a:cs typeface="+mn-cs"/>
              </a:rPr>
              <a:t>training programs or </a:t>
            </a:r>
            <a:r>
              <a:rPr lang="en-US" sz="938" kern="1200" err="1">
                <a:solidFill>
                  <a:schemeClr val="tx1"/>
                </a:solidFill>
                <a:latin typeface="+mn-lt"/>
                <a:ea typeface="+mn-ea"/>
                <a:cs typeface="+mn-cs"/>
              </a:rPr>
              <a:t>customisable</a:t>
            </a:r>
            <a:r>
              <a:rPr lang="en-US" sz="938" kern="1200">
                <a:solidFill>
                  <a:schemeClr val="tx1"/>
                </a:solidFill>
                <a:latin typeface="+mn-lt"/>
                <a:ea typeface="+mn-ea"/>
                <a:cs typeface="+mn-cs"/>
              </a:rPr>
              <a:t> workout plans tailored to</a:t>
            </a:r>
          </a:p>
          <a:p>
            <a:pPr defTabSz="306324">
              <a:spcAft>
                <a:spcPts val="600"/>
              </a:spcAft>
            </a:pPr>
            <a:r>
              <a:rPr lang="en-US" sz="938" kern="1200">
                <a:solidFill>
                  <a:schemeClr val="tx1"/>
                </a:solidFill>
                <a:latin typeface="+mn-lt"/>
                <a:ea typeface="+mn-ea"/>
                <a:cs typeface="+mn-cs"/>
              </a:rPr>
              <a:t>specific race preparations."</a:t>
            </a:r>
            <a:endParaRPr lang="en-US" sz="1400"/>
          </a:p>
        </p:txBody>
      </p:sp>
      <p:sp>
        <p:nvSpPr>
          <p:cNvPr id="7" name="Content Placeholder 6">
            <a:extLst>
              <a:ext uri="{FF2B5EF4-FFF2-40B4-BE49-F238E27FC236}">
                <a16:creationId xmlns:a16="http://schemas.microsoft.com/office/drawing/2014/main" id="{4A7AC957-548F-FDFF-C618-69E709BEB02D}"/>
              </a:ext>
            </a:extLst>
          </p:cNvPr>
          <p:cNvSpPr>
            <a:spLocks/>
          </p:cNvSpPr>
          <p:nvPr/>
        </p:nvSpPr>
        <p:spPr>
          <a:xfrm>
            <a:off x="6096000" y="2878138"/>
            <a:ext cx="4041563" cy="3340099"/>
          </a:xfrm>
          <a:prstGeom prst="rect">
            <a:avLst/>
          </a:prstGeom>
        </p:spPr>
        <p:txBody>
          <a:bodyPr>
            <a:noAutofit/>
          </a:bodyPr>
          <a:lstStyle/>
          <a:p>
            <a:pPr defTabSz="306324">
              <a:spcAft>
                <a:spcPts val="600"/>
              </a:spcAft>
            </a:pPr>
            <a:r>
              <a:rPr lang="en-US" sz="938" kern="1200">
                <a:solidFill>
                  <a:schemeClr val="tx1"/>
                </a:solidFill>
                <a:latin typeface="+mn-lt"/>
                <a:ea typeface="+mn-ea"/>
                <a:cs typeface="+mn-cs"/>
              </a:rPr>
              <a:t>6. "Heart rate data is tracked, but the app doesn’t offer advanced</a:t>
            </a:r>
          </a:p>
          <a:p>
            <a:pPr defTabSz="306324">
              <a:spcAft>
                <a:spcPts val="600"/>
              </a:spcAft>
            </a:pPr>
            <a:r>
              <a:rPr lang="en-US" sz="938" kern="1200">
                <a:solidFill>
                  <a:schemeClr val="tx1"/>
                </a:solidFill>
                <a:latin typeface="+mn-lt"/>
                <a:ea typeface="+mn-ea"/>
                <a:cs typeface="+mn-cs"/>
              </a:rPr>
              <a:t>insights or the ability to create heart rate-based training zones, which</a:t>
            </a:r>
          </a:p>
          <a:p>
            <a:pPr defTabSz="306324">
              <a:spcAft>
                <a:spcPts val="600"/>
              </a:spcAft>
            </a:pPr>
            <a:r>
              <a:rPr lang="en-US" sz="938" kern="1200">
                <a:solidFill>
                  <a:schemeClr val="tx1"/>
                </a:solidFill>
                <a:latin typeface="+mn-lt"/>
                <a:ea typeface="+mn-ea"/>
                <a:cs typeface="+mn-cs"/>
              </a:rPr>
              <a:t>are essential for serious training."</a:t>
            </a:r>
          </a:p>
          <a:p>
            <a:pPr defTabSz="306324">
              <a:spcAft>
                <a:spcPts val="600"/>
              </a:spcAft>
            </a:pPr>
            <a:r>
              <a:rPr lang="en-US" sz="938" kern="1200">
                <a:solidFill>
                  <a:schemeClr val="tx1"/>
                </a:solidFill>
                <a:latin typeface="+mn-lt"/>
                <a:ea typeface="+mn-ea"/>
                <a:cs typeface="+mn-cs"/>
              </a:rPr>
              <a:t>7. "Setting weekly distance targets is useful, but I’d like to set different</a:t>
            </a:r>
          </a:p>
          <a:p>
            <a:pPr defTabSz="306324">
              <a:spcAft>
                <a:spcPts val="600"/>
              </a:spcAft>
            </a:pPr>
            <a:r>
              <a:rPr lang="en-US" sz="938" kern="1200">
                <a:solidFill>
                  <a:schemeClr val="tx1"/>
                </a:solidFill>
                <a:latin typeface="+mn-lt"/>
                <a:ea typeface="+mn-ea"/>
                <a:cs typeface="+mn-cs"/>
              </a:rPr>
              <a:t>types of goals, such as improving my pace or increasing the number of</a:t>
            </a:r>
          </a:p>
          <a:p>
            <a:pPr defTabSz="306324">
              <a:spcAft>
                <a:spcPts val="600"/>
              </a:spcAft>
            </a:pPr>
            <a:r>
              <a:rPr lang="en-US" sz="938" kern="1200">
                <a:solidFill>
                  <a:schemeClr val="tx1"/>
                </a:solidFill>
                <a:latin typeface="+mn-lt"/>
                <a:ea typeface="+mn-ea"/>
                <a:cs typeface="+mn-cs"/>
              </a:rPr>
              <a:t>runs per week."</a:t>
            </a:r>
          </a:p>
          <a:p>
            <a:pPr defTabSz="306324">
              <a:spcAft>
                <a:spcPts val="600"/>
              </a:spcAft>
            </a:pPr>
            <a:r>
              <a:rPr lang="en-US" sz="938" kern="1200">
                <a:solidFill>
                  <a:schemeClr val="tx1"/>
                </a:solidFill>
                <a:latin typeface="+mn-lt"/>
                <a:ea typeface="+mn-ea"/>
                <a:cs typeface="+mn-cs"/>
              </a:rPr>
              <a:t>8. "The app’s social sharing features are quite basic. It would be great to</a:t>
            </a:r>
          </a:p>
          <a:p>
            <a:pPr defTabSz="306324">
              <a:spcAft>
                <a:spcPts val="600"/>
              </a:spcAft>
            </a:pPr>
            <a:r>
              <a:rPr lang="en-US" sz="938" kern="1200">
                <a:solidFill>
                  <a:schemeClr val="tx1"/>
                </a:solidFill>
                <a:latin typeface="+mn-lt"/>
                <a:ea typeface="+mn-ea"/>
                <a:cs typeface="+mn-cs"/>
              </a:rPr>
              <a:t>have more community interaction, like joining virtual running clubs or</a:t>
            </a:r>
          </a:p>
          <a:p>
            <a:pPr defTabSz="306324">
              <a:spcAft>
                <a:spcPts val="600"/>
              </a:spcAft>
            </a:pPr>
            <a:r>
              <a:rPr lang="en-US" sz="938" kern="1200">
                <a:solidFill>
                  <a:schemeClr val="tx1"/>
                </a:solidFill>
                <a:latin typeface="+mn-lt"/>
                <a:ea typeface="+mn-ea"/>
                <a:cs typeface="+mn-cs"/>
              </a:rPr>
              <a:t>participating in challenges."</a:t>
            </a:r>
          </a:p>
          <a:p>
            <a:pPr defTabSz="306324">
              <a:spcAft>
                <a:spcPts val="600"/>
              </a:spcAft>
            </a:pPr>
            <a:r>
              <a:rPr lang="en-US" sz="938" kern="1200">
                <a:solidFill>
                  <a:schemeClr val="tx1"/>
                </a:solidFill>
                <a:latin typeface="+mn-lt"/>
                <a:ea typeface="+mn-ea"/>
                <a:cs typeface="+mn-cs"/>
              </a:rPr>
              <a:t>9. "The reminders to run are helpful, but they lack </a:t>
            </a:r>
            <a:r>
              <a:rPr lang="en-US" sz="938" kern="1200" err="1">
                <a:solidFill>
                  <a:schemeClr val="tx1"/>
                </a:solidFill>
                <a:latin typeface="+mn-lt"/>
                <a:ea typeface="+mn-ea"/>
                <a:cs typeface="+mn-cs"/>
              </a:rPr>
              <a:t>personalisation</a:t>
            </a:r>
            <a:r>
              <a:rPr lang="en-US" sz="938" kern="1200">
                <a:solidFill>
                  <a:schemeClr val="tx1"/>
                </a:solidFill>
                <a:latin typeface="+mn-lt"/>
                <a:ea typeface="+mn-ea"/>
                <a:cs typeface="+mn-cs"/>
              </a:rPr>
              <a:t>. It</a:t>
            </a:r>
          </a:p>
          <a:p>
            <a:pPr defTabSz="306324">
              <a:spcAft>
                <a:spcPts val="600"/>
              </a:spcAft>
            </a:pPr>
            <a:r>
              <a:rPr lang="en-US" sz="938" kern="1200">
                <a:solidFill>
                  <a:schemeClr val="tx1"/>
                </a:solidFill>
                <a:latin typeface="+mn-lt"/>
                <a:ea typeface="+mn-ea"/>
                <a:cs typeface="+mn-cs"/>
              </a:rPr>
              <a:t>would be better if the reminders could adapt to my running habits and</a:t>
            </a:r>
          </a:p>
          <a:p>
            <a:pPr defTabSz="306324">
              <a:spcAft>
                <a:spcPts val="600"/>
              </a:spcAft>
            </a:pPr>
            <a:r>
              <a:rPr lang="en-US" sz="938" kern="1200">
                <a:solidFill>
                  <a:schemeClr val="tx1"/>
                </a:solidFill>
                <a:latin typeface="+mn-lt"/>
                <a:ea typeface="+mn-ea"/>
                <a:cs typeface="+mn-cs"/>
              </a:rPr>
              <a:t>rest days."</a:t>
            </a:r>
          </a:p>
          <a:p>
            <a:pPr defTabSz="306324">
              <a:spcAft>
                <a:spcPts val="600"/>
              </a:spcAft>
            </a:pPr>
            <a:r>
              <a:rPr lang="en-US" sz="938" kern="1200">
                <a:solidFill>
                  <a:schemeClr val="tx1"/>
                </a:solidFill>
                <a:latin typeface="+mn-lt"/>
                <a:ea typeface="+mn-ea"/>
                <a:cs typeface="+mn-cs"/>
              </a:rPr>
              <a:t>10. "I'm concerned about the safety of sharing my running routes</a:t>
            </a:r>
          </a:p>
          <a:p>
            <a:pPr defTabSz="306324">
              <a:spcAft>
                <a:spcPts val="600"/>
              </a:spcAft>
            </a:pPr>
            <a:r>
              <a:rPr lang="en-US" sz="938" kern="1200">
                <a:solidFill>
                  <a:schemeClr val="tx1"/>
                </a:solidFill>
                <a:latin typeface="+mn-lt"/>
                <a:ea typeface="+mn-ea"/>
                <a:cs typeface="+mn-cs"/>
              </a:rPr>
              <a:t>publicly. It would be reassuring if the app had more robust privacy</a:t>
            </a:r>
          </a:p>
          <a:p>
            <a:pPr defTabSz="306324">
              <a:spcAft>
                <a:spcPts val="600"/>
              </a:spcAft>
            </a:pPr>
            <a:r>
              <a:rPr lang="en-US" sz="938" kern="1200">
                <a:solidFill>
                  <a:schemeClr val="tx1"/>
                </a:solidFill>
                <a:latin typeface="+mn-lt"/>
                <a:ea typeface="+mn-ea"/>
                <a:cs typeface="+mn-cs"/>
              </a:rPr>
              <a:t>settings and safety features." </a:t>
            </a:r>
            <a:endParaRPr lang="en-US" sz="1400"/>
          </a:p>
        </p:txBody>
      </p:sp>
    </p:spTree>
    <p:extLst>
      <p:ext uri="{BB962C8B-B14F-4D97-AF65-F5344CB8AC3E}">
        <p14:creationId xmlns:p14="http://schemas.microsoft.com/office/powerpoint/2010/main" val="3269127942"/>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9D63A3D-0D3B-9FB6-0E0E-2AFCD8FD9DE5}"/>
              </a:ext>
            </a:extLst>
          </p:cNvPr>
          <p:cNvSpPr>
            <a:spLocks noGrp="1"/>
          </p:cNvSpPr>
          <p:nvPr>
            <p:ph type="title"/>
          </p:nvPr>
        </p:nvSpPr>
        <p:spPr>
          <a:xfrm>
            <a:off x="619760" y="764373"/>
            <a:ext cx="6832600" cy="1293028"/>
          </a:xfrm>
        </p:spPr>
        <p:txBody>
          <a:bodyPr>
            <a:normAutofit/>
          </a:bodyPr>
          <a:lstStyle/>
          <a:p>
            <a:r>
              <a:rPr lang="en-US"/>
              <a:t>Development plan</a:t>
            </a:r>
          </a:p>
        </p:txBody>
      </p:sp>
      <p:sp>
        <p:nvSpPr>
          <p:cNvPr id="8" name="Content Placeholder 7">
            <a:extLst>
              <a:ext uri="{FF2B5EF4-FFF2-40B4-BE49-F238E27FC236}">
                <a16:creationId xmlns:a16="http://schemas.microsoft.com/office/drawing/2014/main" id="{3DCFFE12-30C1-DFF4-F359-1D2F8DDB3E4B}"/>
              </a:ext>
            </a:extLst>
          </p:cNvPr>
          <p:cNvSpPr>
            <a:spLocks noGrp="1"/>
          </p:cNvSpPr>
          <p:nvPr>
            <p:ph idx="1"/>
          </p:nvPr>
        </p:nvSpPr>
        <p:spPr>
          <a:xfrm>
            <a:off x="619760" y="2194560"/>
            <a:ext cx="6832600" cy="4024125"/>
          </a:xfrm>
        </p:spPr>
        <p:txBody>
          <a:bodyPr>
            <a:normAutofit/>
          </a:bodyPr>
          <a:lstStyle/>
          <a:p>
            <a:pPr marL="0" indent="0">
              <a:buNone/>
            </a:pPr>
            <a:r>
              <a:rPr lang="en-US"/>
              <a:t>For our development, we will be applying the Agile development methodology as this will give us the desired flexibility in terms of implementation of new features, testing and roll-out. This will also allow us to go back in development cycle, change and adapt to the situation down the line if required.</a:t>
            </a:r>
          </a:p>
        </p:txBody>
      </p:sp>
      <p:pic>
        <p:nvPicPr>
          <p:cNvPr id="12" name="Graphic 11" descr="Workflow">
            <a:extLst>
              <a:ext uri="{FF2B5EF4-FFF2-40B4-BE49-F238E27FC236}">
                <a16:creationId xmlns:a16="http://schemas.microsoft.com/office/drawing/2014/main" id="{43BC4856-D58D-B0A8-D675-C3252F9CDB3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61238" y="1659923"/>
            <a:ext cx="3644962" cy="3644962"/>
          </a:xfrm>
          <a:prstGeom prst="rect">
            <a:avLst/>
          </a:prstGeom>
        </p:spPr>
      </p:pic>
    </p:spTree>
    <p:extLst>
      <p:ext uri="{BB962C8B-B14F-4D97-AF65-F5344CB8AC3E}">
        <p14:creationId xmlns:p14="http://schemas.microsoft.com/office/powerpoint/2010/main" val="3412685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4E863-A5E7-CE07-7D62-148AAD6A160D}"/>
              </a:ext>
            </a:extLst>
          </p:cNvPr>
          <p:cNvSpPr>
            <a:spLocks noGrp="1"/>
          </p:cNvSpPr>
          <p:nvPr>
            <p:ph type="title"/>
          </p:nvPr>
        </p:nvSpPr>
        <p:spPr/>
        <p:txBody>
          <a:bodyPr/>
          <a:lstStyle/>
          <a:p>
            <a:r>
              <a:rPr lang="en-US"/>
              <a:t>Step by step plan</a:t>
            </a:r>
          </a:p>
        </p:txBody>
      </p:sp>
      <p:sp>
        <p:nvSpPr>
          <p:cNvPr id="3" name="Content Placeholder 2">
            <a:extLst>
              <a:ext uri="{FF2B5EF4-FFF2-40B4-BE49-F238E27FC236}">
                <a16:creationId xmlns:a16="http://schemas.microsoft.com/office/drawing/2014/main" id="{1A7DC0CF-6423-93DB-08A3-C713570AAE56}"/>
              </a:ext>
            </a:extLst>
          </p:cNvPr>
          <p:cNvSpPr>
            <a:spLocks noGrp="1"/>
          </p:cNvSpPr>
          <p:nvPr>
            <p:ph idx="1"/>
          </p:nvPr>
        </p:nvSpPr>
        <p:spPr/>
        <p:txBody>
          <a:bodyPr/>
          <a:lstStyle/>
          <a:p>
            <a:pPr marL="514350" indent="-514350">
              <a:buFont typeface="+mj-lt"/>
              <a:buAutoNum type="arabicPeriod"/>
            </a:pPr>
            <a:r>
              <a:rPr lang="en-US"/>
              <a:t>Competitors research/ analysis</a:t>
            </a:r>
          </a:p>
          <a:p>
            <a:pPr marL="0" indent="0">
              <a:buNone/>
            </a:pPr>
            <a:r>
              <a:rPr lang="en-US"/>
              <a:t>Analyze main competitors, find what features they implemented, their users feedback, where they are better than us, where we are better. Understand what features work best and what we can implement in our app.</a:t>
            </a:r>
          </a:p>
          <a:p>
            <a:endParaRPr lang="en-US"/>
          </a:p>
        </p:txBody>
      </p:sp>
    </p:spTree>
    <p:extLst>
      <p:ext uri="{BB962C8B-B14F-4D97-AF65-F5344CB8AC3E}">
        <p14:creationId xmlns:p14="http://schemas.microsoft.com/office/powerpoint/2010/main" val="2207857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D792C-964F-B31C-1D09-DF0218F8486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5842822-7096-9F33-EA98-2EC0880BE116}"/>
              </a:ext>
            </a:extLst>
          </p:cNvPr>
          <p:cNvSpPr>
            <a:spLocks noGrp="1"/>
          </p:cNvSpPr>
          <p:nvPr>
            <p:ph idx="1"/>
          </p:nvPr>
        </p:nvSpPr>
        <p:spPr/>
        <p:txBody>
          <a:bodyPr/>
          <a:lstStyle/>
          <a:p>
            <a:pPr marL="0" indent="0">
              <a:buNone/>
            </a:pPr>
            <a:r>
              <a:rPr lang="en-US"/>
              <a:t>2. Finalize the market research, determine which features we are going to implement, decide how achievable this is for our team, assign roles and tasks, determine the technologies needed to implement the features. </a:t>
            </a:r>
          </a:p>
          <a:p>
            <a:pPr marL="0" indent="0">
              <a:buNone/>
            </a:pPr>
            <a:r>
              <a:rPr lang="en-US"/>
              <a:t>3. Development/ design stage</a:t>
            </a:r>
          </a:p>
          <a:p>
            <a:pPr marL="0" indent="0">
              <a:buNone/>
            </a:pPr>
            <a:r>
              <a:rPr lang="en-US"/>
              <a:t>	At this stage we are going to design, develop and test new features, all at the same time, one feature at the time depending on their priority level. </a:t>
            </a:r>
          </a:p>
        </p:txBody>
      </p:sp>
    </p:spTree>
    <p:extLst>
      <p:ext uri="{BB962C8B-B14F-4D97-AF65-F5344CB8AC3E}">
        <p14:creationId xmlns:p14="http://schemas.microsoft.com/office/powerpoint/2010/main" val="2726468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F4BA8-FE10-9A82-5AF3-5F3BA677B1D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51A70DC-5E64-2BF8-CFE7-8BE0921BC31F}"/>
              </a:ext>
            </a:extLst>
          </p:cNvPr>
          <p:cNvSpPr>
            <a:spLocks noGrp="1"/>
          </p:cNvSpPr>
          <p:nvPr>
            <p:ph idx="1"/>
          </p:nvPr>
        </p:nvSpPr>
        <p:spPr/>
        <p:txBody>
          <a:bodyPr/>
          <a:lstStyle/>
          <a:p>
            <a:pPr marL="0" indent="0">
              <a:buNone/>
            </a:pPr>
            <a:r>
              <a:rPr lang="en-US"/>
              <a:t>4. Feature roll-out</a:t>
            </a:r>
          </a:p>
          <a:p>
            <a:pPr marL="0" indent="0">
              <a:buNone/>
            </a:pPr>
            <a:r>
              <a:rPr lang="en-US"/>
              <a:t>	At this stage, we are going to rollout features one by one after successful development and testing is done. The features will be rolled out while the app will be still live through an update of the app in the marketplace.</a:t>
            </a:r>
          </a:p>
          <a:p>
            <a:pPr marL="0" indent="0">
              <a:buNone/>
            </a:pPr>
            <a:r>
              <a:rPr lang="en-US"/>
              <a:t>5. Reflection and analyzing results</a:t>
            </a:r>
          </a:p>
          <a:p>
            <a:pPr marL="0" indent="0">
              <a:buNone/>
            </a:pPr>
            <a:r>
              <a:rPr lang="en-US"/>
              <a:t>	Here we will look if the implemented features have had an impact on users growth, and if it aligned with pre-set objectives.</a:t>
            </a:r>
          </a:p>
        </p:txBody>
      </p:sp>
    </p:spTree>
    <p:extLst>
      <p:ext uri="{BB962C8B-B14F-4D97-AF65-F5344CB8AC3E}">
        <p14:creationId xmlns:p14="http://schemas.microsoft.com/office/powerpoint/2010/main" val="3293610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C41CF4-4A13-4AA9-9300-CB7A2E37C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D0938E8A-D877-153D-0021-8A8858CBE309}"/>
              </a:ext>
            </a:extLst>
          </p:cNvPr>
          <p:cNvSpPr>
            <a:spLocks noGrp="1"/>
          </p:cNvSpPr>
          <p:nvPr>
            <p:ph type="title"/>
          </p:nvPr>
        </p:nvSpPr>
        <p:spPr>
          <a:xfrm>
            <a:off x="683609" y="764372"/>
            <a:ext cx="3173688" cy="5216013"/>
          </a:xfrm>
        </p:spPr>
        <p:txBody>
          <a:bodyPr>
            <a:normAutofit/>
          </a:bodyPr>
          <a:lstStyle/>
          <a:p>
            <a:r>
              <a:rPr lang="en-US"/>
              <a:t>Timeline</a:t>
            </a:r>
          </a:p>
        </p:txBody>
      </p:sp>
      <p:cxnSp>
        <p:nvCxnSpPr>
          <p:cNvPr id="10" name="Straight Connector 9">
            <a:extLst>
              <a:ext uri="{FF2B5EF4-FFF2-40B4-BE49-F238E27FC236}">
                <a16:creationId xmlns:a16="http://schemas.microsoft.com/office/drawing/2014/main" id="{7A77B115-9FF3-46AE-AE08-826DEB9A62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27197" y="1923563"/>
            <a:ext cx="0" cy="301752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7B325DE-5BC5-01D6-B168-B39C7DB0F3EA}"/>
              </a:ext>
            </a:extLst>
          </p:cNvPr>
          <p:cNvSpPr>
            <a:spLocks noGrp="1"/>
          </p:cNvSpPr>
          <p:nvPr>
            <p:ph idx="1"/>
          </p:nvPr>
        </p:nvSpPr>
        <p:spPr>
          <a:xfrm>
            <a:off x="4370138" y="764372"/>
            <a:ext cx="7086600" cy="5216013"/>
          </a:xfrm>
        </p:spPr>
        <p:txBody>
          <a:bodyPr anchor="ctr">
            <a:normAutofit/>
          </a:bodyPr>
          <a:lstStyle/>
          <a:p>
            <a:pPr marL="0" indent="0">
              <a:buNone/>
            </a:pPr>
            <a:r>
              <a:rPr lang="en-US" sz="2000"/>
              <a:t>We were given only 6 months to complete this project, so time is the biggest challenge, plus the small team might be challenging too. To make it easier for me do split the plan into weeks of work, I will splint the month in week which 6 month equals to 24 weeks</a:t>
            </a:r>
          </a:p>
          <a:p>
            <a:pPr marL="514350" indent="-514350">
              <a:buAutoNum type="arabicPeriod"/>
            </a:pPr>
            <a:r>
              <a:rPr lang="en-US" sz="2000"/>
              <a:t>First 2 weeks i will carry a market/ competitors research and analysis, that’s step 1 of the plan.</a:t>
            </a:r>
          </a:p>
          <a:p>
            <a:pPr marL="514350" indent="-514350">
              <a:buAutoNum type="arabicPeriod"/>
            </a:pPr>
            <a:r>
              <a:rPr lang="en-US" sz="2000"/>
              <a:t>3</a:t>
            </a:r>
            <a:r>
              <a:rPr lang="en-US" sz="2000" baseline="30000"/>
              <a:t>rd</a:t>
            </a:r>
            <a:r>
              <a:rPr lang="en-US" sz="2000"/>
              <a:t> week, I will evaluate the findings, and discuss them with my team to see how achievable it is for us.</a:t>
            </a:r>
          </a:p>
          <a:p>
            <a:pPr marL="514350" indent="-514350">
              <a:buAutoNum type="arabicPeriod"/>
            </a:pPr>
            <a:r>
              <a:rPr lang="en-US" sz="2000"/>
              <a:t>Starting with week 4 up to week 22, the team will be designing, developing and testing new features. The team will be working on 1 feature at the time until its ready to be launched, then move to next one. To split to work between two engineers, 1 will develop and other will take care of testing. </a:t>
            </a:r>
          </a:p>
          <a:p>
            <a:pPr marL="514350" indent="-514350">
              <a:buAutoNum type="arabicPeriod"/>
            </a:pPr>
            <a:endParaRPr lang="en-US" sz="2000"/>
          </a:p>
        </p:txBody>
      </p:sp>
    </p:spTree>
    <p:extLst>
      <p:ext uri="{BB962C8B-B14F-4D97-AF65-F5344CB8AC3E}">
        <p14:creationId xmlns:p14="http://schemas.microsoft.com/office/powerpoint/2010/main" val="1353405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C41CF4-4A13-4AA9-9300-CB7A2E37C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FD40F0B5-2BBE-21D6-5D94-DF07B6E3EB97}"/>
              </a:ext>
            </a:extLst>
          </p:cNvPr>
          <p:cNvSpPr>
            <a:spLocks noGrp="1"/>
          </p:cNvSpPr>
          <p:nvPr>
            <p:ph type="title"/>
          </p:nvPr>
        </p:nvSpPr>
        <p:spPr>
          <a:xfrm>
            <a:off x="683609" y="764372"/>
            <a:ext cx="3173688" cy="5216013"/>
          </a:xfrm>
        </p:spPr>
        <p:txBody>
          <a:bodyPr>
            <a:normAutofit/>
          </a:bodyPr>
          <a:lstStyle/>
          <a:p>
            <a:endParaRPr lang="en-US"/>
          </a:p>
        </p:txBody>
      </p:sp>
      <p:cxnSp>
        <p:nvCxnSpPr>
          <p:cNvPr id="10" name="Straight Connector 9">
            <a:extLst>
              <a:ext uri="{FF2B5EF4-FFF2-40B4-BE49-F238E27FC236}">
                <a16:creationId xmlns:a16="http://schemas.microsoft.com/office/drawing/2014/main" id="{7A77B115-9FF3-46AE-AE08-826DEB9A62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27197" y="1923563"/>
            <a:ext cx="0" cy="301752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9A4BD14-DD02-1268-B4D5-D67444960E80}"/>
              </a:ext>
            </a:extLst>
          </p:cNvPr>
          <p:cNvSpPr>
            <a:spLocks noGrp="1"/>
          </p:cNvSpPr>
          <p:nvPr>
            <p:ph idx="1"/>
          </p:nvPr>
        </p:nvSpPr>
        <p:spPr>
          <a:xfrm>
            <a:off x="4370138" y="764372"/>
            <a:ext cx="7086600" cy="5216013"/>
          </a:xfrm>
        </p:spPr>
        <p:txBody>
          <a:bodyPr anchor="ctr">
            <a:normAutofit/>
          </a:bodyPr>
          <a:lstStyle/>
          <a:p>
            <a:pPr marL="0" indent="0">
              <a:buNone/>
            </a:pPr>
            <a:r>
              <a:rPr lang="en-US" sz="2000"/>
              <a:t>4. Last two weeks, will be used in case we will need additional time , and to analyze the results against main objectives for this project. We will look at numbers, users charts, paid subscriptions numbers.</a:t>
            </a:r>
          </a:p>
        </p:txBody>
      </p:sp>
    </p:spTree>
    <p:extLst>
      <p:ext uri="{BB962C8B-B14F-4D97-AF65-F5344CB8AC3E}">
        <p14:creationId xmlns:p14="http://schemas.microsoft.com/office/powerpoint/2010/main" val="179402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A22DDE2-FB2D-421B-B377-F9AD495CE9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pic>
        <p:nvPicPr>
          <p:cNvPr id="11" name="Picture 10">
            <a:extLst>
              <a:ext uri="{FF2B5EF4-FFF2-40B4-BE49-F238E27FC236}">
                <a16:creationId xmlns:a16="http://schemas.microsoft.com/office/drawing/2014/main" id="{A995140B-9736-47E4-9A7D-ABB32F3AAA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useBgFill="1">
        <p:nvSpPr>
          <p:cNvPr id="13" name="Rectangle 12">
            <a:extLst>
              <a:ext uri="{FF2B5EF4-FFF2-40B4-BE49-F238E27FC236}">
                <a16:creationId xmlns:a16="http://schemas.microsoft.com/office/drawing/2014/main" id="{E770CA6A-B3B0-4826-A91F-B2B1F8922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3C51B9DA-B0CC-480A-8EA5-4D5C3E0515B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4" name="Title 3">
            <a:extLst>
              <a:ext uri="{FF2B5EF4-FFF2-40B4-BE49-F238E27FC236}">
                <a16:creationId xmlns:a16="http://schemas.microsoft.com/office/drawing/2014/main" id="{2D0BAC98-A689-023A-07B0-BFE81B723E6F}"/>
              </a:ext>
            </a:extLst>
          </p:cNvPr>
          <p:cNvSpPr>
            <a:spLocks noGrp="1"/>
          </p:cNvSpPr>
          <p:nvPr>
            <p:ph type="title"/>
          </p:nvPr>
        </p:nvSpPr>
        <p:spPr>
          <a:xfrm>
            <a:off x="4976028" y="965200"/>
            <a:ext cx="6170943" cy="4329641"/>
          </a:xfrm>
        </p:spPr>
        <p:txBody>
          <a:bodyPr vert="horz" lIns="91440" tIns="45720" rIns="91440" bIns="45720" rtlCol="0" anchor="ctr">
            <a:normAutofit/>
          </a:bodyPr>
          <a:lstStyle/>
          <a:p>
            <a:pPr algn="l"/>
            <a:r>
              <a:rPr lang="en-US" sz="5400"/>
              <a:t>Competitors Research</a:t>
            </a:r>
          </a:p>
        </p:txBody>
      </p:sp>
      <p:cxnSp>
        <p:nvCxnSpPr>
          <p:cNvPr id="17" name="Straight Connector 16">
            <a:extLst>
              <a:ext uri="{FF2B5EF4-FFF2-40B4-BE49-F238E27FC236}">
                <a16:creationId xmlns:a16="http://schemas.microsoft.com/office/drawing/2014/main" id="{6FE641DB-A503-41DE-ACA6-36B41C6C2B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621260"/>
            <a:ext cx="0" cy="30175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124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4C41CF4-4A13-4AA9-9300-CB7A2E37C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5" name="Title 4">
            <a:extLst>
              <a:ext uri="{FF2B5EF4-FFF2-40B4-BE49-F238E27FC236}">
                <a16:creationId xmlns:a16="http://schemas.microsoft.com/office/drawing/2014/main" id="{B546C463-595F-3EFB-A2A6-B362930C1BA1}"/>
              </a:ext>
            </a:extLst>
          </p:cNvPr>
          <p:cNvSpPr>
            <a:spLocks noGrp="1"/>
          </p:cNvSpPr>
          <p:nvPr>
            <p:ph type="title"/>
          </p:nvPr>
        </p:nvSpPr>
        <p:spPr>
          <a:xfrm>
            <a:off x="683609" y="764372"/>
            <a:ext cx="3173688" cy="5216013"/>
          </a:xfrm>
        </p:spPr>
        <p:txBody>
          <a:bodyPr>
            <a:normAutofit/>
          </a:bodyPr>
          <a:lstStyle/>
          <a:p>
            <a:endParaRPr lang="en-US"/>
          </a:p>
        </p:txBody>
      </p:sp>
      <p:cxnSp>
        <p:nvCxnSpPr>
          <p:cNvPr id="18" name="Straight Connector 17">
            <a:extLst>
              <a:ext uri="{FF2B5EF4-FFF2-40B4-BE49-F238E27FC236}">
                <a16:creationId xmlns:a16="http://schemas.microsoft.com/office/drawing/2014/main" id="{7A77B115-9FF3-46AE-AE08-826DEB9A62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27197" y="1923563"/>
            <a:ext cx="0" cy="301752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7281F43C-8751-D445-ED08-AA191BE61B58}"/>
              </a:ext>
            </a:extLst>
          </p:cNvPr>
          <p:cNvSpPr>
            <a:spLocks noGrp="1"/>
          </p:cNvSpPr>
          <p:nvPr>
            <p:ph idx="1"/>
          </p:nvPr>
        </p:nvSpPr>
        <p:spPr>
          <a:xfrm>
            <a:off x="4370138" y="764372"/>
            <a:ext cx="7086600" cy="5216013"/>
          </a:xfrm>
        </p:spPr>
        <p:txBody>
          <a:bodyPr anchor="ctr">
            <a:normAutofit/>
          </a:bodyPr>
          <a:lstStyle/>
          <a:p>
            <a:pPr marL="0" indent="0">
              <a:buNone/>
            </a:pPr>
            <a:r>
              <a:rPr lang="en-US" sz="2000"/>
              <a:t>After carrying a market and competitors research of the main players on the fitness apps market, I came to a conclusion that our company has already implemented most of the features that such an app could possibly have. However, there are few ideas that could help us with users satisfaction by addressing their feedback. Some of these new features will be free, some will require paid monthly subscription of £2, while other companies offer these features at a much higher monthly price, which will put us in a good position. I believe this is a reasonable price for all the features app will provide. This will also allow us to increase the profit from the app. These subscription based features will be offered as a 30 days trial free of charge for everyone, to allow users to try these new features out without risk.</a:t>
            </a:r>
          </a:p>
          <a:p>
            <a:pPr marL="0" indent="0">
              <a:buNone/>
            </a:pPr>
            <a:r>
              <a:rPr lang="en-US" sz="2000"/>
              <a:t> </a:t>
            </a:r>
          </a:p>
        </p:txBody>
      </p:sp>
    </p:spTree>
    <p:extLst>
      <p:ext uri="{BB962C8B-B14F-4D97-AF65-F5344CB8AC3E}">
        <p14:creationId xmlns:p14="http://schemas.microsoft.com/office/powerpoint/2010/main" val="656806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507FE-BA56-D31C-3BF3-129A99780B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86ADC3-4A8C-1E3C-2A16-E7E56B2173D5}"/>
              </a:ext>
            </a:extLst>
          </p:cNvPr>
          <p:cNvSpPr>
            <a:spLocks noGrp="1"/>
          </p:cNvSpPr>
          <p:nvPr>
            <p:ph idx="1"/>
          </p:nvPr>
        </p:nvSpPr>
        <p:spPr/>
        <p:txBody>
          <a:bodyPr>
            <a:normAutofit/>
          </a:bodyPr>
          <a:lstStyle/>
          <a:p>
            <a:pPr marL="514350" indent="-514350">
              <a:buAutoNum type="arabicPeriod"/>
            </a:pPr>
            <a:r>
              <a:rPr lang="en-US" dirty="0"/>
              <a:t>Is community and social sharing features (paid subscription required)</a:t>
            </a:r>
          </a:p>
          <a:p>
            <a:pPr marL="457200" lvl="1" indent="0">
              <a:buNone/>
            </a:pPr>
            <a:r>
              <a:rPr lang="en-US" dirty="0"/>
              <a:t>The feedback nr.8 mention “The app’s social sharing features are quite basic. It would be great to have more community interaction, like joining virtual running clubs or participating in challenges” . With this we could add the feature to connect with friends, share progress, and participate in challenges.</a:t>
            </a:r>
          </a:p>
          <a:p>
            <a:pPr marL="457200" lvl="1" indent="0">
              <a:buNone/>
            </a:pPr>
            <a:r>
              <a:rPr lang="en-US" dirty="0"/>
              <a:t>2. Sleep tracker (free for everyone)</a:t>
            </a:r>
          </a:p>
          <a:p>
            <a:pPr marL="457200" lvl="1" indent="0">
              <a:buNone/>
            </a:pPr>
            <a:r>
              <a:rPr lang="en-US" dirty="0"/>
              <a:t>	To track users sleep, advice on how they can improve it and give them stats on how well they slept over the days. Such feature can be found in </a:t>
            </a:r>
            <a:r>
              <a:rPr lang="en-US" dirty="0" err="1"/>
              <a:t>FitBit</a:t>
            </a:r>
            <a:r>
              <a:rPr lang="en-US" dirty="0"/>
              <a:t> and Apple watch.</a:t>
            </a:r>
          </a:p>
        </p:txBody>
      </p:sp>
    </p:spTree>
    <p:extLst>
      <p:ext uri="{BB962C8B-B14F-4D97-AF65-F5344CB8AC3E}">
        <p14:creationId xmlns:p14="http://schemas.microsoft.com/office/powerpoint/2010/main" val="3403009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5B1FF-2C96-0604-B051-9B892026AB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D997A2-1CE9-D58D-7751-3F6DC13BB972}"/>
              </a:ext>
            </a:extLst>
          </p:cNvPr>
          <p:cNvSpPr>
            <a:spLocks noGrp="1"/>
          </p:cNvSpPr>
          <p:nvPr>
            <p:ph idx="1"/>
          </p:nvPr>
        </p:nvSpPr>
        <p:spPr/>
        <p:txBody>
          <a:bodyPr/>
          <a:lstStyle/>
          <a:p>
            <a:pPr marL="0" indent="0">
              <a:buNone/>
            </a:pPr>
            <a:r>
              <a:rPr lang="en-US" dirty="0"/>
              <a:t>3. Nutrition and Diet tracking (paid subscription required)</a:t>
            </a:r>
          </a:p>
          <a:p>
            <a:pPr marL="0" indent="0">
              <a:buNone/>
            </a:pPr>
            <a:r>
              <a:rPr lang="en-US" dirty="0"/>
              <a:t>	Such a feature would allow users to track their diet, their food intake, count calories, set targets and track their progress to their desired weight. They will have a tab in the app that allows them to add the food they had and the app will automatically count calories and add them to the list.</a:t>
            </a:r>
          </a:p>
        </p:txBody>
      </p:sp>
    </p:spTree>
    <p:extLst>
      <p:ext uri="{BB962C8B-B14F-4D97-AF65-F5344CB8AC3E}">
        <p14:creationId xmlns:p14="http://schemas.microsoft.com/office/powerpoint/2010/main" val="7226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5AE2E-5552-0EF2-B6C5-6166CA62141A}"/>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0E52425-A735-DB5E-5861-0CD8E4420B70}"/>
              </a:ext>
            </a:extLst>
          </p:cNvPr>
          <p:cNvSpPr>
            <a:spLocks noGrp="1"/>
          </p:cNvSpPr>
          <p:nvPr>
            <p:ph idx="1"/>
          </p:nvPr>
        </p:nvSpPr>
        <p:spPr/>
        <p:txBody>
          <a:bodyPr/>
          <a:lstStyle/>
          <a:p>
            <a:pPr marL="0" indent="0">
              <a:buNone/>
            </a:pPr>
            <a:r>
              <a:rPr lang="en-US" dirty="0"/>
              <a:t>4. Analytics and Reports (paid subscription required)</a:t>
            </a:r>
          </a:p>
          <a:p>
            <a:pPr marL="457200" lvl="1" indent="0">
              <a:buNone/>
            </a:pPr>
            <a:r>
              <a:rPr lang="en-US" dirty="0"/>
              <a:t>  App could generate reports on users activities and health metrics for past day, week or month, to show the progress and achievements, to motivate them. This will address the feedback nr.4 of our users feedback list.</a:t>
            </a:r>
          </a:p>
          <a:p>
            <a:pPr marL="457200" lvl="1" indent="0">
              <a:buNone/>
            </a:pPr>
            <a:endParaRPr lang="en-US" dirty="0"/>
          </a:p>
          <a:p>
            <a:pPr marL="457200" lvl="1" indent="0">
              <a:buNone/>
            </a:pPr>
            <a:r>
              <a:rPr lang="en-US" dirty="0"/>
              <a:t>5. Customization and Personalization</a:t>
            </a:r>
          </a:p>
          <a:p>
            <a:pPr marL="457200" lvl="1" indent="0">
              <a:buNone/>
            </a:pPr>
            <a:r>
              <a:rPr lang="en-US" dirty="0"/>
              <a:t>	This feature will allow users to set custom training routine for each individually. This also addresses the feedback nr.7 and nr.9.</a:t>
            </a:r>
          </a:p>
        </p:txBody>
      </p:sp>
    </p:spTree>
    <p:extLst>
      <p:ext uri="{BB962C8B-B14F-4D97-AF65-F5344CB8AC3E}">
        <p14:creationId xmlns:p14="http://schemas.microsoft.com/office/powerpoint/2010/main" val="1103284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3000"/>
                <a:shade val="98000"/>
                <a:satMod val="150000"/>
                <a:lumMod val="102000"/>
              </a:schemeClr>
            </a:gs>
            <a:gs pos="50000">
              <a:schemeClr val="bg1">
                <a:tint val="98000"/>
                <a:shade val="90000"/>
                <a:satMod val="130000"/>
                <a:lumMod val="103000"/>
              </a:schemeClr>
            </a:gs>
            <a:gs pos="100000">
              <a:schemeClr val="bg1">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C41CF4-4A13-4AA9-9300-CB7A2E37C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C6B3F3F3-8530-AA4B-BAAD-0BF839A465B5}"/>
              </a:ext>
            </a:extLst>
          </p:cNvPr>
          <p:cNvSpPr>
            <a:spLocks noGrp="1"/>
          </p:cNvSpPr>
          <p:nvPr>
            <p:ph type="title"/>
          </p:nvPr>
        </p:nvSpPr>
        <p:spPr>
          <a:xfrm>
            <a:off x="683609" y="764372"/>
            <a:ext cx="3173688" cy="5216013"/>
          </a:xfrm>
        </p:spPr>
        <p:txBody>
          <a:bodyPr>
            <a:normAutofit/>
          </a:bodyPr>
          <a:lstStyle/>
          <a:p>
            <a:r>
              <a:rPr lang="en-US" sz="3400"/>
              <a:t>Conclusion</a:t>
            </a:r>
          </a:p>
        </p:txBody>
      </p:sp>
      <p:cxnSp>
        <p:nvCxnSpPr>
          <p:cNvPr id="10" name="Straight Connector 9">
            <a:extLst>
              <a:ext uri="{FF2B5EF4-FFF2-40B4-BE49-F238E27FC236}">
                <a16:creationId xmlns:a16="http://schemas.microsoft.com/office/drawing/2014/main" id="{7A77B115-9FF3-46AE-AE08-826DEB9A62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27197" y="1923563"/>
            <a:ext cx="0" cy="301752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1FD9B45-2788-2DAA-07F8-D6CB4A4C6D3F}"/>
              </a:ext>
            </a:extLst>
          </p:cNvPr>
          <p:cNvSpPr>
            <a:spLocks noGrp="1"/>
          </p:cNvSpPr>
          <p:nvPr>
            <p:ph idx="1"/>
          </p:nvPr>
        </p:nvSpPr>
        <p:spPr>
          <a:xfrm>
            <a:off x="4370138" y="764372"/>
            <a:ext cx="7086600" cy="5216013"/>
          </a:xfrm>
        </p:spPr>
        <p:txBody>
          <a:bodyPr anchor="ctr">
            <a:normAutofit/>
          </a:bodyPr>
          <a:lstStyle/>
          <a:p>
            <a:pPr marL="0" indent="0">
              <a:buNone/>
            </a:pPr>
            <a:r>
              <a:rPr lang="en-US" sz="2000"/>
              <a:t>This is my development plan for this product, I believe if we will implement the set objectives and features it will allow us to bring more customers on board and increase the number of paid subscriptions.</a:t>
            </a:r>
          </a:p>
        </p:txBody>
      </p:sp>
    </p:spTree>
    <p:extLst>
      <p:ext uri="{BB962C8B-B14F-4D97-AF65-F5344CB8AC3E}">
        <p14:creationId xmlns:p14="http://schemas.microsoft.com/office/powerpoint/2010/main" val="2720275165"/>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Vapor Trail</Template>
  <TotalTime>197</TotalTime>
  <Words>1510</Words>
  <Application>Microsoft Macintosh PowerPoint</Application>
  <PresentationFormat>Widescreen</PresentationFormat>
  <Paragraphs>95</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Century Gothic</vt:lpstr>
      <vt:lpstr>Vapor Trail</vt:lpstr>
      <vt:lpstr>IEUK Work Sample</vt:lpstr>
      <vt:lpstr>Intro</vt:lpstr>
      <vt:lpstr>Current company state</vt:lpstr>
      <vt:lpstr>Problem faced</vt:lpstr>
      <vt:lpstr>Current Features</vt:lpstr>
      <vt:lpstr>Our users feedback</vt:lpstr>
      <vt:lpstr>Development plan</vt:lpstr>
      <vt:lpstr>Step by step plan</vt:lpstr>
      <vt:lpstr>PowerPoint Presentation</vt:lpstr>
      <vt:lpstr>PowerPoint Presentation</vt:lpstr>
      <vt:lpstr>Timeline</vt:lpstr>
      <vt:lpstr>PowerPoint Presentation</vt:lpstr>
      <vt:lpstr>Competitors Research</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Temciuc (STU94283)</dc:creator>
  <cp:lastModifiedBy>John Temciuc (STU94283)</cp:lastModifiedBy>
  <cp:revision>2</cp:revision>
  <dcterms:created xsi:type="dcterms:W3CDTF">2024-06-19T15:05:46Z</dcterms:created>
  <dcterms:modified xsi:type="dcterms:W3CDTF">2024-06-20T11:21:09Z</dcterms:modified>
</cp:coreProperties>
</file>